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Montserrat Heavy" charset="1" panose="00000A00000000000000"/>
      <p:regular r:id="rId35"/>
    </p:embeddedFont>
    <p:embeddedFont>
      <p:font typeface="Montserrat Bold" charset="1" panose="00000800000000000000"/>
      <p:regular r:id="rId36"/>
    </p:embeddedFont>
    <p:embeddedFont>
      <p:font typeface="Montserrat" charset="1" panose="000005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58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Imagine lending a friend money and never getting it back — now scale that to an entire banking system.</a:t>
            </a:r>
          </a:p>
          <a:p>
            <a:r>
              <a:rPr lang="en-US"/>
              <a:t>Last year alone, Pakistan’s banks lost almost one trillion rupees due to defaults.</a:t>
            </a:r>
          </a:p>
          <a:p>
            <a:r>
              <a:rPr lang="en-US"/>
              <a:t>Our study dives into who these defaulters are and how banks can predict them before it’s too late.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Imagine lending a friend money and never getting it back — now scale that to an entire banking system.</a:t>
            </a:r>
          </a:p>
          <a:p>
            <a:r>
              <a:rPr lang="en-US"/>
              <a:t>Last year alone, Pakistan’s banks lost almost one trillion rupees due to defaults.</a:t>
            </a:r>
          </a:p>
          <a:p>
            <a:r>
              <a:rPr lang="en-US"/>
              <a:t>Our study dives into who these defaulters are and how banks can predict them before it’s too late.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Banks lend for homes, cars, or education, but not everyone pays back on time. These are called loan defaulters—people who stop making payments.</a:t>
            </a:r>
          </a:p>
          <a:p>
            <a:r>
              <a:rPr lang="en-US"/>
              <a:t>Our analysis helps banks see these risks before defaults happen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used a Kaggle dataset with over 255 thousand loan records and 18 columns. It covers everything from income and credit score to employment and marital status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Business and auto loans are riskiest. Borrowers taking these loans default around 21 percent, higher than others.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 credit lines increase, so does the chance of default—from 23 percent for one line to nearly 28 percent for four. More credit means more debt pressure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Defaults rise for longer loan terms. Borrowers with 60-month loans default most often, possibly because long commitments make repayment harder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Large loans are riskier. Borrowers with loans above 200 K default at about 28 percent, compared to 13 percent for small loans.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Younger borrowers, especially under 35, are more likely to default. Older borrowers tend to manage money and commitments more carefully.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Employment stability matters. Unemployed borrowers default 44 percent more than those working full-time.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Those with only 1–3 years of experience default most, showing that short job history links to weaker repayment ability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Borrowers earning between 30 K–60 K default the most—about 24 percent—while higher earners have better repayment habits.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Married borrowers repay better. Divorced individuals default 20 percent more, possibly due to financial stress or single income.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Marital status also influences repayment discipline. Married borrowers are more stable financially, while divorced individuals face around 20 percent higher default risk,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People without dependents default more—about 55 percent of all defaulters—likely because they have less financial responsibility.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Borrowers who already have a mortgage actually manage money better. Their default rate is lower—47 percent compared to 53 percent for others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Having a co-signer cuts default risk. When someone shares responsibility, borrowers tend to be more careful.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Overall, younger, low-income, less-educated, and unemployed borrowers are at the highest risk of default.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Banks can manage this risk by tightening screening, improving monitoring, and offering financial-literacy programs.</a:t>
            </a:r>
          </a:p>
          <a:p>
            <a:r>
              <a:rPr lang="en-US"/>
              <a:t>These steps not only reduce losses but also promote responsible borrowing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Among all tested models, Random Forest achieved the best overall accuracy (77.8%), but Logistic Regression achieved the highest recall (≈70%), providing a solid foundation for identifying high-risk borrowers.</a:t>
            </a:r>
          </a:p>
          <a:p>
            <a:r>
              <a:rPr lang="en-US"/>
              <a:t>Its high recall means the model catches most actual defaulters, making it valuable for minimizing financial losses.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confusion matrix shows that our Logistic Regression model performs well in identifying true non-defaulters, with 30,393 correct predictions. However, it also generates false alarms, predicting 14,746 safe borrowers as defaulters. Despite this, the model successfully captures around 70% of actual loan defaulters, which is valuable for minimizing financial risk. The trade-off between precision and recall indicates a risk-aware model that prioritizes catching potential defaulters even at the cost of some false positives.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model reveals that financial stability and employment status are the most powerful predictors of loan default.</a:t>
            </a:r>
          </a:p>
          <a:p>
            <a:r>
              <a:rPr lang="en-US"/>
              <a:t>In particular, younger age, unemployment, high interest rates, and shorter employment history increase the risk, while steady income and co-signers reduce it.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4.png" Type="http://schemas.openxmlformats.org/officeDocument/2006/relationships/image"/><Relationship Id="rId14" Target="https://mettisglobal.news/bad-loans-surge-rs71bn-in-2023" TargetMode="External" Type="http://schemas.openxmlformats.org/officeDocument/2006/relationships/hyperlink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5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https://mettisglobal.news/bad-loans-surge-rs71bn-in-2023" TargetMode="External" Type="http://schemas.openxmlformats.org/officeDocument/2006/relationships/hyperlink"/><Relationship Id="rId14" Target="../media/image16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7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8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9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20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21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22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23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24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25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26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27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28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29.pn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0.pn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2" Target="../notesSlides/notesSlide19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5.pn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6.pn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7.png" Type="http://schemas.openxmlformats.org/officeDocument/2006/relationships/image"/><Relationship Id="rId2" Target="../notesSlides/notesSlide22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38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" t="0" r="-102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57400"/>
            <a:ext cx="13925222" cy="3086100"/>
            <a:chOff x="0" y="0"/>
            <a:chExt cx="366754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7548" cy="812800"/>
            </a:xfrm>
            <a:custGeom>
              <a:avLst/>
              <a:gdLst/>
              <a:ahLst/>
              <a:cxnLst/>
              <a:rect r="r" b="b" t="t" l="l"/>
              <a:pathLst>
                <a:path h="812800" w="3667548">
                  <a:moveTo>
                    <a:pt x="0" y="0"/>
                  </a:moveTo>
                  <a:lnTo>
                    <a:pt x="3667548" y="0"/>
                  </a:lnTo>
                  <a:lnTo>
                    <a:pt x="366754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3E4EF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6754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10189" y="5412098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0" y="0"/>
                </a:lnTo>
                <a:lnTo>
                  <a:pt x="3061970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2500" y="1994814"/>
            <a:ext cx="12573000" cy="217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5"/>
              </a:lnSpc>
            </a:pPr>
            <a:r>
              <a:rPr lang="en-US" b="true" sz="12667">
                <a:solidFill>
                  <a:srgbClr val="1C1C1C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Loan Default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9999" y="4211010"/>
            <a:ext cx="9933039" cy="40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419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INSIDE LOAN DEFAULTS: RISK, PATTERNS, AND INSIGHTS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514748" y="9347379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09796" y="9347379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05878" y="9347379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61168" y="6219969"/>
            <a:ext cx="8847536" cy="1755119"/>
            <a:chOff x="0" y="0"/>
            <a:chExt cx="3680031" cy="730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0031" cy="730021"/>
            </a:xfrm>
            <a:custGeom>
              <a:avLst/>
              <a:gdLst/>
              <a:ahLst/>
              <a:cxnLst/>
              <a:rect r="r" b="b" t="t" l="l"/>
              <a:pathLst>
                <a:path h="730021" w="3680031">
                  <a:moveTo>
                    <a:pt x="3476831" y="0"/>
                  </a:moveTo>
                  <a:cubicBezTo>
                    <a:pt x="3589055" y="0"/>
                    <a:pt x="3680031" y="163421"/>
                    <a:pt x="3680031" y="365011"/>
                  </a:cubicBezTo>
                  <a:cubicBezTo>
                    <a:pt x="3680031" y="566601"/>
                    <a:pt x="3589055" y="730021"/>
                    <a:pt x="3476831" y="730021"/>
                  </a:cubicBezTo>
                  <a:lnTo>
                    <a:pt x="203200" y="730021"/>
                  </a:lnTo>
                  <a:cubicBezTo>
                    <a:pt x="90976" y="730021"/>
                    <a:pt x="0" y="566601"/>
                    <a:pt x="0" y="365011"/>
                  </a:cubicBezTo>
                  <a:cubicBezTo>
                    <a:pt x="0" y="16342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E4EF">
                <a:alpha val="8784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680031" cy="749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1168" y="3702850"/>
            <a:ext cx="8847536" cy="1755119"/>
            <a:chOff x="0" y="0"/>
            <a:chExt cx="3680031" cy="7300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0031" cy="730021"/>
            </a:xfrm>
            <a:custGeom>
              <a:avLst/>
              <a:gdLst/>
              <a:ahLst/>
              <a:cxnLst/>
              <a:rect r="r" b="b" t="t" l="l"/>
              <a:pathLst>
                <a:path h="730021" w="3680031">
                  <a:moveTo>
                    <a:pt x="3476831" y="0"/>
                  </a:moveTo>
                  <a:cubicBezTo>
                    <a:pt x="3589055" y="0"/>
                    <a:pt x="3680031" y="163421"/>
                    <a:pt x="3680031" y="365011"/>
                  </a:cubicBezTo>
                  <a:cubicBezTo>
                    <a:pt x="3680031" y="566601"/>
                    <a:pt x="3589055" y="730021"/>
                    <a:pt x="3476831" y="730021"/>
                  </a:cubicBezTo>
                  <a:lnTo>
                    <a:pt x="203200" y="730021"/>
                  </a:lnTo>
                  <a:cubicBezTo>
                    <a:pt x="90976" y="730021"/>
                    <a:pt x="0" y="566601"/>
                    <a:pt x="0" y="365011"/>
                  </a:cubicBezTo>
                  <a:cubicBezTo>
                    <a:pt x="0" y="16342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E4EF">
                <a:alpha val="87843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80031" cy="749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748820" y="3723534"/>
            <a:ext cx="7230712" cy="4992871"/>
          </a:xfrm>
          <a:custGeom>
            <a:avLst/>
            <a:gdLst/>
            <a:ahLst/>
            <a:cxnLst/>
            <a:rect r="r" b="b" t="t" l="l"/>
            <a:pathLst>
              <a:path h="4992871" w="7230712">
                <a:moveTo>
                  <a:pt x="0" y="0"/>
                </a:moveTo>
                <a:lnTo>
                  <a:pt x="7230712" y="0"/>
                </a:lnTo>
                <a:lnTo>
                  <a:pt x="7230712" y="4992871"/>
                </a:lnTo>
                <a:lnTo>
                  <a:pt x="0" y="49928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65426" y="6465991"/>
            <a:ext cx="8039018" cy="123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3"/>
              </a:lnSpc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In 2023, Pakistani banks lost nearly</a:t>
            </a:r>
            <a:r>
              <a:rPr lang="en-US" b="true" sz="2199" spc="129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Rs 995 billion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, or roughly </a:t>
            </a:r>
            <a:r>
              <a:rPr lang="en-US" b="true" sz="2199" spc="129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$3.5 billion,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not by fraud but by everyday borrowers who couldn’t repay.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4968" y="2092837"/>
            <a:ext cx="6690534" cy="8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Did You Know?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1168" y="9623515"/>
            <a:ext cx="9300439" cy="28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2"/>
              </a:lnSpc>
            </a:pPr>
            <a:r>
              <a:rPr lang="en-US" b="true" sz="1600" spc="94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Sources:</a:t>
            </a:r>
            <a:r>
              <a:rPr lang="en-US" sz="1600" spc="94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spc="94" u="sng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  <a:hlinkClick r:id="rId14" tooltip="https://mettisglobal.news/bad-loans-surge-rs71bn-in-2023"/>
              </a:rPr>
              <a:t>https://mettisglobal.news/bad-loans-surge-rs71bn-in-2023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5426" y="3929656"/>
            <a:ext cx="8039018" cy="123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3"/>
              </a:lnSpc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Every year, thousands borrow to buy homes, cars, or study. But whe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repayments stop, banks suffer losses, and the economy slows down.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3976" y="2741360"/>
            <a:ext cx="4338091" cy="4524737"/>
          </a:xfrm>
          <a:custGeom>
            <a:avLst/>
            <a:gdLst/>
            <a:ahLst/>
            <a:cxnLst/>
            <a:rect r="r" b="b" t="t" l="l"/>
            <a:pathLst>
              <a:path h="4524737" w="4338091">
                <a:moveTo>
                  <a:pt x="0" y="0"/>
                </a:moveTo>
                <a:lnTo>
                  <a:pt x="4338091" y="0"/>
                </a:lnTo>
                <a:lnTo>
                  <a:pt x="4338091" y="4524737"/>
                </a:lnTo>
                <a:lnTo>
                  <a:pt x="0" y="45247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6715" y="2887650"/>
            <a:ext cx="12488596" cy="80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5300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Patterns Behind Loan Defaults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3840" y="4228615"/>
            <a:ext cx="13632553" cy="412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sz="2399" spc="141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Banks lend money so people can buy cars, houses, or study.</a:t>
            </a:r>
          </a:p>
          <a:p>
            <a:pPr algn="just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sz="2399" spc="141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But not everyone pays it back on time....</a:t>
            </a:r>
          </a:p>
          <a:p>
            <a:pPr algn="just">
              <a:lnSpc>
                <a:spcPts val="4799"/>
              </a:lnSpc>
            </a:pPr>
          </a:p>
          <a:p>
            <a:pPr algn="just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sz="2399" spc="141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These people are called loan defaulters, meaning they failed to repay their loans as promised.</a:t>
            </a:r>
          </a:p>
          <a:p>
            <a:pPr algn="just" marL="518158" indent="-259079" lvl="1">
              <a:lnSpc>
                <a:spcPts val="4799"/>
              </a:lnSpc>
              <a:buFont typeface="Arial"/>
              <a:buChar char="•"/>
            </a:pPr>
            <a:r>
              <a:rPr lang="en-US" sz="2399" spc="141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Our project studies who is most likely to default and why, so banks can spot risks early and reduce future losses.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1168" y="9623515"/>
            <a:ext cx="9300439" cy="28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2"/>
              </a:lnSpc>
            </a:pPr>
            <a:r>
              <a:rPr lang="en-US" b="true" sz="1600" spc="94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Sources:</a:t>
            </a:r>
            <a:r>
              <a:rPr lang="en-US" sz="1600" spc="94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spc="94" u="sng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  <a:hlinkClick r:id="rId13" tooltip="https://mettisglobal.news/bad-loans-surge-rs71bn-in-2023"/>
              </a:rPr>
              <a:t>https://mettisglobal.news/bad-loans-surge-rs71bn-in-2023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08356" y="4290276"/>
            <a:ext cx="7859582" cy="711399"/>
            <a:chOff x="0" y="0"/>
            <a:chExt cx="3269103" cy="2958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9103" cy="295898"/>
            </a:xfrm>
            <a:custGeom>
              <a:avLst/>
              <a:gdLst/>
              <a:ahLst/>
              <a:cxnLst/>
              <a:rect r="r" b="b" t="t" l="l"/>
              <a:pathLst>
                <a:path h="295898" w="3269103">
                  <a:moveTo>
                    <a:pt x="3065903" y="0"/>
                  </a:moveTo>
                  <a:cubicBezTo>
                    <a:pt x="3178127" y="0"/>
                    <a:pt x="3269103" y="66239"/>
                    <a:pt x="3269103" y="147949"/>
                  </a:cubicBezTo>
                  <a:cubicBezTo>
                    <a:pt x="3269103" y="229659"/>
                    <a:pt x="3178127" y="295898"/>
                    <a:pt x="3065903" y="295898"/>
                  </a:cubicBezTo>
                  <a:lnTo>
                    <a:pt x="203200" y="295898"/>
                  </a:lnTo>
                  <a:cubicBezTo>
                    <a:pt x="90976" y="295898"/>
                    <a:pt x="0" y="229659"/>
                    <a:pt x="0" y="147949"/>
                  </a:cubicBezTo>
                  <a:cubicBezTo>
                    <a:pt x="0" y="6623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E4EF">
                <a:alpha val="8784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269103" cy="314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3657" y="4290276"/>
            <a:ext cx="6752353" cy="711399"/>
            <a:chOff x="0" y="0"/>
            <a:chExt cx="2808564" cy="2958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08564" cy="295898"/>
            </a:xfrm>
            <a:custGeom>
              <a:avLst/>
              <a:gdLst/>
              <a:ahLst/>
              <a:cxnLst/>
              <a:rect r="r" b="b" t="t" l="l"/>
              <a:pathLst>
                <a:path h="295898" w="2808564">
                  <a:moveTo>
                    <a:pt x="2605364" y="0"/>
                  </a:moveTo>
                  <a:cubicBezTo>
                    <a:pt x="2717588" y="0"/>
                    <a:pt x="2808564" y="66239"/>
                    <a:pt x="2808564" y="147949"/>
                  </a:cubicBezTo>
                  <a:cubicBezTo>
                    <a:pt x="2808564" y="229659"/>
                    <a:pt x="2717588" y="295898"/>
                    <a:pt x="2605364" y="295898"/>
                  </a:cubicBezTo>
                  <a:lnTo>
                    <a:pt x="203200" y="295898"/>
                  </a:lnTo>
                  <a:cubicBezTo>
                    <a:pt x="90976" y="295898"/>
                    <a:pt x="0" y="229659"/>
                    <a:pt x="0" y="147949"/>
                  </a:cubicBezTo>
                  <a:cubicBezTo>
                    <a:pt x="0" y="6623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3E4EF">
                <a:alpha val="8784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808564" cy="314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4358" y="5596497"/>
            <a:ext cx="14882087" cy="2765175"/>
          </a:xfrm>
          <a:custGeom>
            <a:avLst/>
            <a:gdLst/>
            <a:ahLst/>
            <a:cxnLst/>
            <a:rect r="r" b="b" t="t" l="l"/>
            <a:pathLst>
              <a:path h="2765175" w="14882087">
                <a:moveTo>
                  <a:pt x="0" y="0"/>
                </a:moveTo>
                <a:lnTo>
                  <a:pt x="14882087" y="0"/>
                </a:lnTo>
                <a:lnTo>
                  <a:pt x="14882087" y="2765176"/>
                </a:lnTo>
                <a:lnTo>
                  <a:pt x="0" y="27651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30" t="-192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4968" y="1881430"/>
            <a:ext cx="7258332" cy="8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4493" y="3143842"/>
            <a:ext cx="1873366" cy="6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23"/>
              </a:lnSpc>
            </a:pPr>
            <a:r>
              <a:rPr lang="en-US" sz="299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Use: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63694" y="4414465"/>
            <a:ext cx="6862828" cy="39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3"/>
              </a:lnSpc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Loan Default Prediction Dataset-Kaggle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53882" y="4423990"/>
            <a:ext cx="8129218" cy="39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The dataset contains: </a:t>
            </a:r>
            <a:r>
              <a:rPr lang="en-US" sz="2199" spc="129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255K 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Rows| </a:t>
            </a:r>
            <a:r>
              <a:rPr lang="en-US" sz="2199" spc="129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 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Columns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0943" y="9623515"/>
            <a:ext cx="9300439" cy="28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2"/>
              </a:lnSpc>
            </a:pPr>
            <a:r>
              <a:rPr lang="en-US" b="true" sz="1600" spc="94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Sources:</a:t>
            </a:r>
            <a:r>
              <a:rPr lang="en-US" sz="1600" spc="94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https://www.kaggle.com/datasets/nikhil1e9/loan-default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3833935" y="1218927"/>
          <a:ext cx="2904565" cy="8229600"/>
        </p:xfrm>
        <a:graphic>
          <a:graphicData uri="http://schemas.openxmlformats.org/presentationml/2006/ole">
            <p:oleObj imgW="4546600" imgH="98679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460943" y="9623515"/>
            <a:ext cx="9300439" cy="28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2"/>
              </a:lnSpc>
            </a:pPr>
            <a:r>
              <a:rPr lang="en-US" b="true" sz="1600" spc="94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Sources:</a:t>
            </a:r>
            <a:r>
              <a:rPr lang="en-US" sz="1600" spc="94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https://www.kaggle.com/datasets/nikhil1e9/loan-default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74268" y="1384968"/>
            <a:ext cx="10816446" cy="6421502"/>
          </a:xfrm>
          <a:custGeom>
            <a:avLst/>
            <a:gdLst/>
            <a:ahLst/>
            <a:cxnLst/>
            <a:rect r="r" b="b" t="t" l="l"/>
            <a:pathLst>
              <a:path h="6421502" w="10816446">
                <a:moveTo>
                  <a:pt x="0" y="0"/>
                </a:moveTo>
                <a:lnTo>
                  <a:pt x="10816446" y="0"/>
                </a:lnTo>
                <a:lnTo>
                  <a:pt x="10816446" y="6421501"/>
                </a:lnTo>
                <a:lnTo>
                  <a:pt x="0" y="64215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276" t="-2085" r="-972" b="-111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5681" y="8395298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“Business and auto loans are riskiest”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usiness and auto loans make up the largest share of defaults, about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21%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, higher than home loans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87633" y="1384968"/>
            <a:ext cx="10712735" cy="6422503"/>
          </a:xfrm>
          <a:custGeom>
            <a:avLst/>
            <a:gdLst/>
            <a:ahLst/>
            <a:cxnLst/>
            <a:rect r="r" b="b" t="t" l="l"/>
            <a:pathLst>
              <a:path h="6422503" w="10712735">
                <a:moveTo>
                  <a:pt x="0" y="0"/>
                </a:moveTo>
                <a:lnTo>
                  <a:pt x="10712734" y="0"/>
                </a:lnTo>
                <a:lnTo>
                  <a:pt x="10712734" y="6422503"/>
                </a:lnTo>
                <a:lnTo>
                  <a:pt x="0" y="64225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063" t="-1793" r="-1518" b="-264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9599" y="8279660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“More credit lines, more payment risk”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Defaults ris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 as credit lines increase, from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at one line to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28%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at four lines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98707" y="1208326"/>
            <a:ext cx="11090587" cy="6578240"/>
          </a:xfrm>
          <a:custGeom>
            <a:avLst/>
            <a:gdLst/>
            <a:ahLst/>
            <a:cxnLst/>
            <a:rect r="r" b="b" t="t" l="l"/>
            <a:pathLst>
              <a:path h="6578240" w="11090587">
                <a:moveTo>
                  <a:pt x="0" y="0"/>
                </a:moveTo>
                <a:lnTo>
                  <a:pt x="11090586" y="0"/>
                </a:lnTo>
                <a:lnTo>
                  <a:pt x="11090586" y="6578240"/>
                </a:lnTo>
                <a:lnTo>
                  <a:pt x="0" y="657824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824" t="-2266" r="-787" b="-181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9599" y="8279660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“Longer repayment, higher risk”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Defaults 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increase for longer loan terms, peaking near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60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30193" y="1384968"/>
            <a:ext cx="10687368" cy="6397368"/>
          </a:xfrm>
          <a:custGeom>
            <a:avLst/>
            <a:gdLst/>
            <a:ahLst/>
            <a:cxnLst/>
            <a:rect r="r" b="b" t="t" l="l"/>
            <a:pathLst>
              <a:path h="6397368" w="10687368">
                <a:moveTo>
                  <a:pt x="0" y="0"/>
                </a:moveTo>
                <a:lnTo>
                  <a:pt x="10687368" y="0"/>
                </a:lnTo>
                <a:lnTo>
                  <a:pt x="10687368" y="6397368"/>
                </a:lnTo>
                <a:lnTo>
                  <a:pt x="0" y="63973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496" t="-1934" r="-1266" b="-285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5681" y="8442923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“Bigger loans, bigger risk”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efaults rise sharply for larger loans, reaching nearly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28%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for loans above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200K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29441" y="1384968"/>
            <a:ext cx="11229119" cy="6794089"/>
          </a:xfrm>
          <a:custGeom>
            <a:avLst/>
            <a:gdLst/>
            <a:ahLst/>
            <a:cxnLst/>
            <a:rect r="r" b="b" t="t" l="l"/>
            <a:pathLst>
              <a:path h="6794089" w="11229119">
                <a:moveTo>
                  <a:pt x="0" y="0"/>
                </a:moveTo>
                <a:lnTo>
                  <a:pt x="11229118" y="0"/>
                </a:lnTo>
                <a:lnTo>
                  <a:pt x="11229118" y="6794088"/>
                </a:lnTo>
                <a:lnTo>
                  <a:pt x="0" y="67940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23" t="-1237" r="-572" b="-65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5681" y="8442923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“Younger borrowers default more”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People under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35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default most, while older adults rarely miss payments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6488" y="1384968"/>
            <a:ext cx="11155024" cy="6640520"/>
          </a:xfrm>
          <a:custGeom>
            <a:avLst/>
            <a:gdLst/>
            <a:ahLst/>
            <a:cxnLst/>
            <a:rect r="r" b="b" t="t" l="l"/>
            <a:pathLst>
              <a:path h="6640520" w="11155024">
                <a:moveTo>
                  <a:pt x="0" y="0"/>
                </a:moveTo>
                <a:lnTo>
                  <a:pt x="11155024" y="0"/>
                </a:lnTo>
                <a:lnTo>
                  <a:pt x="11155024" y="6640520"/>
                </a:lnTo>
                <a:lnTo>
                  <a:pt x="0" y="66405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97" t="-1554" r="-1625" b="-186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67191" y="8300532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“Full-time workers default less”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Unempl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oyed borrowers default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44%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mor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 than full-time employees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87421" y="1643158"/>
            <a:ext cx="10913157" cy="6447543"/>
          </a:xfrm>
          <a:custGeom>
            <a:avLst/>
            <a:gdLst/>
            <a:ahLst/>
            <a:cxnLst/>
            <a:rect r="r" b="b" t="t" l="l"/>
            <a:pathLst>
              <a:path h="6447543" w="10913157">
                <a:moveTo>
                  <a:pt x="0" y="0"/>
                </a:moveTo>
                <a:lnTo>
                  <a:pt x="10913158" y="0"/>
                </a:lnTo>
                <a:lnTo>
                  <a:pt x="10913158" y="6447543"/>
                </a:lnTo>
                <a:lnTo>
                  <a:pt x="0" y="64475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69" t="-1608" r="-1240" b="-116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5681" y="8442923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“Short-term jobs, higher risk”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Default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s are highest among borrowers with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1–3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years of work experience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16318" y="1384968"/>
            <a:ext cx="11140259" cy="6524900"/>
          </a:xfrm>
          <a:custGeom>
            <a:avLst/>
            <a:gdLst/>
            <a:ahLst/>
            <a:cxnLst/>
            <a:rect r="r" b="b" t="t" l="l"/>
            <a:pathLst>
              <a:path h="6524900" w="11140259">
                <a:moveTo>
                  <a:pt x="0" y="0"/>
                </a:moveTo>
                <a:lnTo>
                  <a:pt x="11140258" y="0"/>
                </a:lnTo>
                <a:lnTo>
                  <a:pt x="11140258" y="6524900"/>
                </a:lnTo>
                <a:lnTo>
                  <a:pt x="0" y="6524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43" t="-1662" r="-1245" b="-291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5681" y="8442923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“Lower income, higher default chance”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Borrow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ers earning between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30K–60K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show the highest default rate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24.4%.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83436" y="1211214"/>
            <a:ext cx="10580528" cy="6261424"/>
          </a:xfrm>
          <a:custGeom>
            <a:avLst/>
            <a:gdLst/>
            <a:ahLst/>
            <a:cxnLst/>
            <a:rect r="r" b="b" t="t" l="l"/>
            <a:pathLst>
              <a:path h="6261424" w="10580528">
                <a:moveTo>
                  <a:pt x="0" y="0"/>
                </a:moveTo>
                <a:lnTo>
                  <a:pt x="10580528" y="0"/>
                </a:lnTo>
                <a:lnTo>
                  <a:pt x="10580528" y="6261424"/>
                </a:lnTo>
                <a:lnTo>
                  <a:pt x="0" y="626142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12" t="-1566" r="-624" b="-267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96891" y="8310880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“Higher education, better repayment”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High school-educated borrowers default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28%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, which is about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higher than PhD holders.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54321" y="1471458"/>
            <a:ext cx="10673415" cy="6428871"/>
          </a:xfrm>
          <a:custGeom>
            <a:avLst/>
            <a:gdLst/>
            <a:ahLst/>
            <a:cxnLst/>
            <a:rect r="r" b="b" t="t" l="l"/>
            <a:pathLst>
              <a:path h="6428871" w="10673415">
                <a:moveTo>
                  <a:pt x="0" y="0"/>
                </a:moveTo>
                <a:lnTo>
                  <a:pt x="10673415" y="0"/>
                </a:lnTo>
                <a:lnTo>
                  <a:pt x="10673415" y="6428871"/>
                </a:lnTo>
                <a:lnTo>
                  <a:pt x="0" y="64288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92" t="-1345" r="-1396" b="-123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08712" y="8255936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“Married borrowers repay better”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Div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orced individuals default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20% 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mor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 than married ones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46886" y="1483660"/>
            <a:ext cx="10742219" cy="6488797"/>
          </a:xfrm>
          <a:custGeom>
            <a:avLst/>
            <a:gdLst/>
            <a:ahLst/>
            <a:cxnLst/>
            <a:rect r="r" b="b" t="t" l="l"/>
            <a:pathLst>
              <a:path h="6488797" w="10742219">
                <a:moveTo>
                  <a:pt x="0" y="0"/>
                </a:moveTo>
                <a:lnTo>
                  <a:pt x="10742218" y="0"/>
                </a:lnTo>
                <a:lnTo>
                  <a:pt x="10742218" y="6488797"/>
                </a:lnTo>
                <a:lnTo>
                  <a:pt x="0" y="64887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42" t="-1520" r="-1259" b="-127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9599" y="8336810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“No dependents, higher default”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Peopl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 without dependents make up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55%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of all defaulters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41776" y="1486318"/>
            <a:ext cx="10505288" cy="6165632"/>
          </a:xfrm>
          <a:custGeom>
            <a:avLst/>
            <a:gdLst/>
            <a:ahLst/>
            <a:cxnLst/>
            <a:rect r="r" b="b" t="t" l="l"/>
            <a:pathLst>
              <a:path h="6165632" w="10505288">
                <a:moveTo>
                  <a:pt x="0" y="0"/>
                </a:moveTo>
                <a:lnTo>
                  <a:pt x="10505288" y="0"/>
                </a:lnTo>
                <a:lnTo>
                  <a:pt x="10505288" y="6165632"/>
                </a:lnTo>
                <a:lnTo>
                  <a:pt x="0" y="61656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038" t="-1643" r="-780" b="-318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5681" y="8442923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“Mortgage holders manage money better”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Thos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 with mortgages default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47%,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53%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without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41776" y="1486318"/>
            <a:ext cx="10410432" cy="6165632"/>
          </a:xfrm>
          <a:custGeom>
            <a:avLst/>
            <a:gdLst/>
            <a:ahLst/>
            <a:cxnLst/>
            <a:rect r="r" b="b" t="t" l="l"/>
            <a:pathLst>
              <a:path h="6165632" w="10410432">
                <a:moveTo>
                  <a:pt x="0" y="0"/>
                </a:moveTo>
                <a:lnTo>
                  <a:pt x="10410432" y="0"/>
                </a:lnTo>
                <a:lnTo>
                  <a:pt x="10410432" y="6165632"/>
                </a:lnTo>
                <a:lnTo>
                  <a:pt x="0" y="61656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026" t="-1643" r="-968" b="-227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5681" y="8442923"/>
            <a:ext cx="15353619" cy="92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2100" spc="123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“Co-signers lower default risk”</a:t>
            </a:r>
          </a:p>
          <a:p>
            <a:pPr algn="ctr">
              <a:lnSpc>
                <a:spcPts val="3040"/>
              </a:lnSpc>
            </a:pP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Loan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s with a co-signer default </a:t>
            </a:r>
            <a:r>
              <a:rPr lang="en-US" b="true" sz="2000" spc="118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44%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pc="118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lower than solo borrowers.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7524" y="3615866"/>
            <a:ext cx="15384332" cy="500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Borrowers under 50 and those without dependents are more likely to default on their loans.</a:t>
            </a:r>
          </a:p>
          <a:p>
            <a:pPr algn="just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Defaults increase with more credit lines, showing higher risk among borrowers managing multiple accounts.</a:t>
            </a:r>
          </a:p>
          <a:p>
            <a:pPr algn="just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Business and Auto loans have the highest default rates, while Home loans remain the most stable.</a:t>
            </a:r>
          </a:p>
          <a:p>
            <a:pPr algn="just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Divorced and unemployed borrowers face the greatest repayment risk, while married and full-time workers are more reliable.</a:t>
            </a:r>
          </a:p>
          <a:p>
            <a:pPr algn="just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High school–educated borrowers show higher defaults than those with advanced education, highlighting the link between education and financial responsibility.</a:t>
            </a:r>
          </a:p>
          <a:p>
            <a:pPr algn="just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Lower-income borrowers (30K–60K) default most often, while higher earners (above 120K) default least.</a:t>
            </a:r>
          </a:p>
          <a:p>
            <a:pPr algn="just">
              <a:lnSpc>
                <a:spcPts val="334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208930" y="2168598"/>
            <a:ext cx="738397" cy="810312"/>
          </a:xfrm>
          <a:custGeom>
            <a:avLst/>
            <a:gdLst/>
            <a:ahLst/>
            <a:cxnLst/>
            <a:rect r="r" b="b" t="t" l="l"/>
            <a:pathLst>
              <a:path h="810312" w="738397">
                <a:moveTo>
                  <a:pt x="0" y="0"/>
                </a:moveTo>
                <a:lnTo>
                  <a:pt x="738397" y="0"/>
                </a:lnTo>
                <a:lnTo>
                  <a:pt x="738397" y="810312"/>
                </a:lnTo>
                <a:lnTo>
                  <a:pt x="0" y="8103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7999" y="2455057"/>
            <a:ext cx="6179908" cy="8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We Found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4968" y="3702167"/>
            <a:ext cx="15384332" cy="46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Tighten screening for high-risk applicants, especially younger borrowers and those without dependents.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Monitor 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customers with multiple credit lines and offer guidance to manage their debts better.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Apply stricter loan approval rules or higher inter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st buffers for Business and Auto loans, while keeping Home loans customer-friendly.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Tr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ack divorced and unemployed clients closely and provide repayment support options to reduce defaults.</a:t>
            </a:r>
          </a:p>
          <a:p>
            <a:pPr algn="just" marL="474979" indent="-237490" lvl="1">
              <a:lnSpc>
                <a:spcPts val="3739"/>
              </a:lnSpc>
              <a:buFont typeface="Arial"/>
              <a:buChar char="•"/>
            </a:pP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199" spc="129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romote financial awareness programs for low-income or less-educated customers to improve repayment behavior.</a:t>
            </a:r>
          </a:p>
          <a:p>
            <a:pPr algn="just">
              <a:lnSpc>
                <a:spcPts val="373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67729" y="1838200"/>
            <a:ext cx="1120861" cy="1063416"/>
          </a:xfrm>
          <a:custGeom>
            <a:avLst/>
            <a:gdLst/>
            <a:ahLst/>
            <a:cxnLst/>
            <a:rect r="r" b="b" t="t" l="l"/>
            <a:pathLst>
              <a:path h="1063416" w="1120861">
                <a:moveTo>
                  <a:pt x="0" y="0"/>
                </a:moveTo>
                <a:lnTo>
                  <a:pt x="1120861" y="0"/>
                </a:lnTo>
                <a:lnTo>
                  <a:pt x="1120861" y="1063416"/>
                </a:lnTo>
                <a:lnTo>
                  <a:pt x="0" y="10634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4968" y="2341333"/>
            <a:ext cx="8651688" cy="8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Banks Should Do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52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3015" y="2396932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0" y="0"/>
                </a:lnTo>
                <a:lnTo>
                  <a:pt x="3061970" y="373003"/>
                </a:lnTo>
                <a:lnTo>
                  <a:pt x="0" y="373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9171" y="4317860"/>
            <a:ext cx="15323957" cy="21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0"/>
              </a:lnSpc>
            </a:pPr>
            <a:r>
              <a:rPr lang="en-US" sz="12400" b="true">
                <a:solidFill>
                  <a:srgbClr val="3E6F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Default Prediction 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52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40319" y="3993340"/>
            <a:ext cx="8333381" cy="2490821"/>
          </a:xfrm>
          <a:custGeom>
            <a:avLst/>
            <a:gdLst/>
            <a:ahLst/>
            <a:cxnLst/>
            <a:rect r="r" b="b" t="t" l="l"/>
            <a:pathLst>
              <a:path h="2490821" w="8333381">
                <a:moveTo>
                  <a:pt x="0" y="0"/>
                </a:moveTo>
                <a:lnTo>
                  <a:pt x="8333381" y="0"/>
                </a:lnTo>
                <a:lnTo>
                  <a:pt x="8333381" y="2490820"/>
                </a:lnTo>
                <a:lnTo>
                  <a:pt x="0" y="24908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938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3126" y="3773695"/>
            <a:ext cx="8756825" cy="376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1"/>
              </a:lnSpc>
            </a:pP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➡ </a:t>
            </a:r>
            <a:r>
              <a:rPr lang="en-US" b="true" sz="1994" spc="117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</a:t>
            </a: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→ How well the model predicts overall loan outcomes (both defaulters and non-defaulters) correctly.</a:t>
            </a:r>
          </a:p>
          <a:p>
            <a:pPr algn="just">
              <a:lnSpc>
                <a:spcPts val="3391"/>
              </a:lnSpc>
            </a:pP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➡ </a:t>
            </a:r>
            <a:r>
              <a:rPr lang="en-US" b="true" sz="1994" spc="117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Precision</a:t>
            </a: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→ Out of predicted defaulters, how many were actually correct?</a:t>
            </a:r>
          </a:p>
          <a:p>
            <a:pPr algn="just">
              <a:lnSpc>
                <a:spcPts val="3391"/>
              </a:lnSpc>
            </a:pP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➡ </a:t>
            </a:r>
            <a:r>
              <a:rPr lang="en-US" b="true" sz="1994" spc="117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Recall </a:t>
            </a: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→ Out of all real defaulters in the data, how many did the model successfully identify?</a:t>
            </a:r>
          </a:p>
          <a:p>
            <a:pPr algn="just">
              <a:lnSpc>
                <a:spcPts val="3391"/>
              </a:lnSpc>
            </a:pP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➡ </a:t>
            </a:r>
            <a:r>
              <a:rPr lang="en-US" b="true" sz="1994" spc="117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F1-Score </a:t>
            </a:r>
            <a:r>
              <a:rPr lang="en-US" sz="1994" spc="117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→ The balance between precision and recall (risk control indicator).</a:t>
            </a:r>
          </a:p>
          <a:p>
            <a:pPr algn="just">
              <a:lnSpc>
                <a:spcPts val="339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43126" y="2760410"/>
            <a:ext cx="8651688" cy="8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true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Evaluation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468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442265"/>
            <a:ext cx="10285829" cy="7402470"/>
          </a:xfrm>
          <a:custGeom>
            <a:avLst/>
            <a:gdLst/>
            <a:ahLst/>
            <a:cxnLst/>
            <a:rect r="r" b="b" t="t" l="l"/>
            <a:pathLst>
              <a:path h="7402470" w="10285829">
                <a:moveTo>
                  <a:pt x="0" y="0"/>
                </a:moveTo>
                <a:lnTo>
                  <a:pt x="10285829" y="0"/>
                </a:lnTo>
                <a:lnTo>
                  <a:pt x="10285829" y="7402470"/>
                </a:lnTo>
                <a:lnTo>
                  <a:pt x="0" y="74024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329676" y="3842206"/>
            <a:ext cx="6448493" cy="175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1"/>
              </a:lnSpc>
            </a:pPr>
            <a:r>
              <a:rPr lang="en-US" sz="2094" spc="123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The model correctly p</a:t>
            </a:r>
            <a:r>
              <a:rPr lang="en-US" sz="2094" spc="123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2094" spc="123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di</a:t>
            </a:r>
            <a:r>
              <a:rPr lang="en-US" sz="2094" spc="123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94" spc="123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ted:</a:t>
            </a:r>
          </a:p>
          <a:p>
            <a:pPr algn="just" marL="452284" indent="-226142" lvl="1">
              <a:lnSpc>
                <a:spcPts val="3561"/>
              </a:lnSpc>
              <a:buFont typeface="Arial"/>
              <a:buChar char="•"/>
            </a:pPr>
            <a:r>
              <a:rPr lang="en-US" sz="2094" spc="123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30,393 safe borrowers (non-defaulters)</a:t>
            </a:r>
          </a:p>
          <a:p>
            <a:pPr algn="just" marL="452284" indent="-226142" lvl="1">
              <a:lnSpc>
                <a:spcPts val="3561"/>
              </a:lnSpc>
              <a:buFont typeface="Arial"/>
              <a:buChar char="•"/>
            </a:pPr>
            <a:r>
              <a:rPr lang="en-US" sz="2094" spc="123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4,150 actual defaulters</a:t>
            </a:r>
          </a:p>
          <a:p>
            <a:pPr algn="just">
              <a:lnSpc>
                <a:spcPts val="3561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52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7561" y="328036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1" y="0"/>
                </a:lnTo>
                <a:lnTo>
                  <a:pt x="3061971" y="373004"/>
                </a:lnTo>
                <a:lnTo>
                  <a:pt x="0" y="37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95388" y="2274944"/>
            <a:ext cx="13897225" cy="6983356"/>
          </a:xfrm>
          <a:custGeom>
            <a:avLst/>
            <a:gdLst/>
            <a:ahLst/>
            <a:cxnLst/>
            <a:rect r="r" b="b" t="t" l="l"/>
            <a:pathLst>
              <a:path h="6983356" w="13897225">
                <a:moveTo>
                  <a:pt x="0" y="0"/>
                </a:moveTo>
                <a:lnTo>
                  <a:pt x="13897224" y="0"/>
                </a:lnTo>
                <a:lnTo>
                  <a:pt x="13897224" y="6983356"/>
                </a:lnTo>
                <a:lnTo>
                  <a:pt x="0" y="69833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952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3015" y="2396932"/>
            <a:ext cx="3061970" cy="373004"/>
          </a:xfrm>
          <a:custGeom>
            <a:avLst/>
            <a:gdLst/>
            <a:ahLst/>
            <a:cxnLst/>
            <a:rect r="r" b="b" t="t" l="l"/>
            <a:pathLst>
              <a:path h="373004" w="3061970">
                <a:moveTo>
                  <a:pt x="0" y="0"/>
                </a:moveTo>
                <a:lnTo>
                  <a:pt x="3061970" y="0"/>
                </a:lnTo>
                <a:lnTo>
                  <a:pt x="3061970" y="373003"/>
                </a:lnTo>
                <a:lnTo>
                  <a:pt x="0" y="373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76807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5" y="0"/>
                </a:lnTo>
                <a:lnTo>
                  <a:pt x="402725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1856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938" y="9589688"/>
            <a:ext cx="402724" cy="402724"/>
          </a:xfrm>
          <a:custGeom>
            <a:avLst/>
            <a:gdLst/>
            <a:ahLst/>
            <a:cxnLst/>
            <a:rect r="r" b="b" t="t" l="l"/>
            <a:pathLst>
              <a:path h="402724" w="402724">
                <a:moveTo>
                  <a:pt x="0" y="0"/>
                </a:moveTo>
                <a:lnTo>
                  <a:pt x="402724" y="0"/>
                </a:lnTo>
                <a:lnTo>
                  <a:pt x="402724" y="402724"/>
                </a:lnTo>
                <a:lnTo>
                  <a:pt x="0" y="402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0" y="2769935"/>
                </a:moveTo>
                <a:lnTo>
                  <a:pt x="2769935" y="2769935"/>
                </a:lnTo>
                <a:lnTo>
                  <a:pt x="2769935" y="0"/>
                </a:lnTo>
                <a:lnTo>
                  <a:pt x="0" y="0"/>
                </a:lnTo>
                <a:lnTo>
                  <a:pt x="0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73070" y="3234492"/>
            <a:ext cx="3586230" cy="5225836"/>
          </a:xfrm>
          <a:custGeom>
            <a:avLst/>
            <a:gdLst/>
            <a:ahLst/>
            <a:cxnLst/>
            <a:rect r="r" b="b" t="t" l="l"/>
            <a:pathLst>
              <a:path h="5225836" w="3586230">
                <a:moveTo>
                  <a:pt x="0" y="0"/>
                </a:moveTo>
                <a:lnTo>
                  <a:pt x="3586230" y="0"/>
                </a:lnTo>
                <a:lnTo>
                  <a:pt x="3586230" y="5225836"/>
                </a:lnTo>
                <a:lnTo>
                  <a:pt x="0" y="52258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446813"/>
            <a:ext cx="12062354" cy="21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0"/>
              </a:lnSpc>
            </a:pPr>
            <a:r>
              <a:rPr lang="en-US" b="true" sz="12400">
                <a:solidFill>
                  <a:srgbClr val="3E6F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 Questions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849225" y="3314700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69962" y="3664580"/>
            <a:ext cx="10732554" cy="222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b="true" sz="12999">
                <a:solidFill>
                  <a:srgbClr val="3E6F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5887038"/>
            <a:ext cx="4399962" cy="4399962"/>
          </a:xfrm>
          <a:custGeom>
            <a:avLst/>
            <a:gdLst/>
            <a:ahLst/>
            <a:cxnLst/>
            <a:rect r="r" b="b" t="t" l="l"/>
            <a:pathLst>
              <a:path h="4399962" w="4399962">
                <a:moveTo>
                  <a:pt x="4399962" y="0"/>
                </a:moveTo>
                <a:lnTo>
                  <a:pt x="0" y="0"/>
                </a:lnTo>
                <a:lnTo>
                  <a:pt x="0" y="4399962"/>
                </a:lnTo>
                <a:lnTo>
                  <a:pt x="4399962" y="4399962"/>
                </a:lnTo>
                <a:lnTo>
                  <a:pt x="43999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36239" y="5887038"/>
            <a:ext cx="4238684" cy="516349"/>
          </a:xfrm>
          <a:custGeom>
            <a:avLst/>
            <a:gdLst/>
            <a:ahLst/>
            <a:cxnLst/>
            <a:rect r="r" b="b" t="t" l="l"/>
            <a:pathLst>
              <a:path h="516349" w="4238684">
                <a:moveTo>
                  <a:pt x="0" y="0"/>
                </a:moveTo>
                <a:lnTo>
                  <a:pt x="4238684" y="0"/>
                </a:lnTo>
                <a:lnTo>
                  <a:pt x="4238684" y="516349"/>
                </a:lnTo>
                <a:lnTo>
                  <a:pt x="0" y="516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DAG5WSQXCtw</dc:identifier>
  <dcterms:modified xsi:type="dcterms:W3CDTF">2011-08-01T06:04:30Z</dcterms:modified>
  <cp:revision>1</cp:revision>
  <dc:title>DA Project-II Brief Presentation</dc:title>
</cp:coreProperties>
</file>