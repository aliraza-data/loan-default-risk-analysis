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Montserrat Heavy" charset="1" panose="00000A00000000000000"/>
      <p:regular r:id="rId21"/>
    </p:embeddedFont>
    <p:embeddedFont>
      <p:font typeface="Montserrat Bold" charset="1" panose="00000800000000000000"/>
      <p:regular r:id="rId22"/>
    </p:embeddedFont>
    <p:embeddedFont>
      <p:font typeface="Montserrat" charset="1" panose="000005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17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17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18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19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20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21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22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23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24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12" Target="../media/image25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svg" Type="http://schemas.openxmlformats.org/officeDocument/2006/relationships/image"/><Relationship Id="rId12" Target="../media/image26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3.png" Type="http://schemas.openxmlformats.org/officeDocument/2006/relationships/image"/><Relationship Id="rId9" Target="../media/image14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29.png" Type="http://schemas.openxmlformats.org/officeDocument/2006/relationships/image"/><Relationship Id="rId7" Target="../media/image30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12801600" y="3314700"/>
            <a:ext cx="7315200" cy="3657600"/>
          </a:xfrm>
          <a:custGeom>
            <a:avLst/>
            <a:gdLst/>
            <a:ahLst/>
            <a:cxnLst/>
            <a:rect r="r" b="b" t="t" l="l"/>
            <a:pathLst>
              <a:path h="3657600" w="7315200">
                <a:moveTo>
                  <a:pt x="0" y="0"/>
                </a:moveTo>
                <a:lnTo>
                  <a:pt x="7315200" y="0"/>
                </a:lnTo>
                <a:lnTo>
                  <a:pt x="7315200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057400" y="3871528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0" y="6172200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4114800" y="0"/>
                </a:moveTo>
                <a:lnTo>
                  <a:pt x="0" y="0"/>
                </a:lnTo>
                <a:lnTo>
                  <a:pt x="0" y="4114800"/>
                </a:lnTo>
                <a:lnTo>
                  <a:pt x="4114800" y="4114800"/>
                </a:lnTo>
                <a:lnTo>
                  <a:pt x="411480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634864" y="6698404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0" y="0"/>
                </a:lnTo>
                <a:lnTo>
                  <a:pt x="3061970" y="373003"/>
                </a:lnTo>
                <a:lnTo>
                  <a:pt x="0" y="37300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57400" y="2543767"/>
            <a:ext cx="12573000" cy="2172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35"/>
              </a:lnSpc>
            </a:pPr>
            <a:r>
              <a:rPr lang="en-US" b="true" sz="12667">
                <a:solidFill>
                  <a:srgbClr val="1C1C1C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Loan Default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805849" y="4893312"/>
            <a:ext cx="6360000" cy="405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7"/>
              </a:lnSpc>
            </a:pPr>
            <a:r>
              <a:rPr lang="en-US" sz="2419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ANALYSIS OF DEFAULT RSIK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84968" y="4116982"/>
            <a:ext cx="8262676" cy="1234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43"/>
              </a:lnSpc>
            </a:pP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Business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and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Auto loans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have higher default risk than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home loans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due to income uncertainty during repayment periods.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84968" y="3024845"/>
            <a:ext cx="6690534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Did You Know?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84968" y="6392841"/>
            <a:ext cx="1210935" cy="605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23"/>
              </a:lnSpc>
            </a:pPr>
            <a:r>
              <a:rPr lang="en-US" sz="299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Myth: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84968" y="7389686"/>
            <a:ext cx="7669065" cy="81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Many think education level has nothing to do with loan default risk.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545054" y="1461381"/>
            <a:ext cx="6794839" cy="7477685"/>
            <a:chOff x="0" y="0"/>
            <a:chExt cx="6415210" cy="705990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15210" cy="7059905"/>
            </a:xfrm>
            <a:custGeom>
              <a:avLst/>
              <a:gdLst/>
              <a:ahLst/>
              <a:cxnLst/>
              <a:rect r="r" b="b" t="t" l="l"/>
              <a:pathLst>
                <a:path h="7059905" w="6415210">
                  <a:moveTo>
                    <a:pt x="5773689" y="7059905"/>
                  </a:moveTo>
                  <a:lnTo>
                    <a:pt x="641521" y="7059905"/>
                  </a:lnTo>
                  <a:cubicBezTo>
                    <a:pt x="287401" y="7059905"/>
                    <a:pt x="0" y="6743622"/>
                    <a:pt x="0" y="6353914"/>
                  </a:cubicBezTo>
                  <a:lnTo>
                    <a:pt x="0" y="705990"/>
                  </a:lnTo>
                  <a:cubicBezTo>
                    <a:pt x="0" y="316284"/>
                    <a:pt x="287401" y="0"/>
                    <a:pt x="641521" y="0"/>
                  </a:cubicBezTo>
                  <a:lnTo>
                    <a:pt x="5773689" y="0"/>
                  </a:lnTo>
                  <a:cubicBezTo>
                    <a:pt x="6127809" y="0"/>
                    <a:pt x="6415210" y="316284"/>
                    <a:pt x="6415210" y="705990"/>
                  </a:cubicBezTo>
                  <a:lnTo>
                    <a:pt x="6415210" y="6353914"/>
                  </a:lnTo>
                  <a:cubicBezTo>
                    <a:pt x="6415210" y="6743622"/>
                    <a:pt x="6127809" y="7059905"/>
                    <a:pt x="5773689" y="7059905"/>
                  </a:cubicBezTo>
                  <a:close/>
                </a:path>
              </a:pathLst>
            </a:custGeom>
            <a:blipFill>
              <a:blip r:embed="rId12"/>
              <a:stretch>
                <a:fillRect l="-6343" t="0" r="-4115" b="-372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394493" y="3024845"/>
            <a:ext cx="6690534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Did You Know?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547958" y="4566287"/>
            <a:ext cx="3625912" cy="3273852"/>
            <a:chOff x="0" y="0"/>
            <a:chExt cx="1508156" cy="136172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08156" cy="1361721"/>
            </a:xfrm>
            <a:custGeom>
              <a:avLst/>
              <a:gdLst/>
              <a:ahLst/>
              <a:cxnLst/>
              <a:rect r="r" b="b" t="t" l="l"/>
              <a:pathLst>
                <a:path h="1361721" w="1508156">
                  <a:moveTo>
                    <a:pt x="1304956" y="0"/>
                  </a:moveTo>
                  <a:cubicBezTo>
                    <a:pt x="1417181" y="0"/>
                    <a:pt x="1508156" y="304832"/>
                    <a:pt x="1508156" y="680861"/>
                  </a:cubicBezTo>
                  <a:cubicBezTo>
                    <a:pt x="1508156" y="1056889"/>
                    <a:pt x="1417181" y="1361721"/>
                    <a:pt x="1304956" y="1361721"/>
                  </a:cubicBezTo>
                  <a:lnTo>
                    <a:pt x="203200" y="1361721"/>
                  </a:lnTo>
                  <a:cubicBezTo>
                    <a:pt x="90976" y="1361721"/>
                    <a:pt x="0" y="1056889"/>
                    <a:pt x="0" y="680861"/>
                  </a:cubicBezTo>
                  <a:cubicBezTo>
                    <a:pt x="0" y="30483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3E4EF">
                <a:alpha val="87843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508156" cy="13807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72226" y="4924010"/>
            <a:ext cx="2977376" cy="2491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Auto loan delinquency jumped by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43%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, rising from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2020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to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2025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ctr">
              <a:lnSpc>
                <a:spcPts val="3343"/>
              </a:lnSpc>
            </a:pPr>
          </a:p>
        </p:txBody>
      </p:sp>
      <p:grpSp>
        <p:nvGrpSpPr>
          <p:cNvPr name="Group 12" id="12"/>
          <p:cNvGrpSpPr/>
          <p:nvPr/>
        </p:nvGrpSpPr>
        <p:grpSpPr>
          <a:xfrm rot="0">
            <a:off x="5958838" y="4566287"/>
            <a:ext cx="3625912" cy="3273852"/>
            <a:chOff x="0" y="0"/>
            <a:chExt cx="1508156" cy="136172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08156" cy="1361721"/>
            </a:xfrm>
            <a:custGeom>
              <a:avLst/>
              <a:gdLst/>
              <a:ahLst/>
              <a:cxnLst/>
              <a:rect r="r" b="b" t="t" l="l"/>
              <a:pathLst>
                <a:path h="1361721" w="1508156">
                  <a:moveTo>
                    <a:pt x="1304956" y="0"/>
                  </a:moveTo>
                  <a:cubicBezTo>
                    <a:pt x="1417181" y="0"/>
                    <a:pt x="1508156" y="304832"/>
                    <a:pt x="1508156" y="680861"/>
                  </a:cubicBezTo>
                  <a:cubicBezTo>
                    <a:pt x="1508156" y="1056889"/>
                    <a:pt x="1417181" y="1361721"/>
                    <a:pt x="1304956" y="1361721"/>
                  </a:cubicBezTo>
                  <a:lnTo>
                    <a:pt x="203200" y="1361721"/>
                  </a:lnTo>
                  <a:cubicBezTo>
                    <a:pt x="90976" y="1361721"/>
                    <a:pt x="0" y="1056889"/>
                    <a:pt x="0" y="680861"/>
                  </a:cubicBezTo>
                  <a:cubicBezTo>
                    <a:pt x="0" y="30483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3E4EF">
                <a:alpha val="87843"/>
              </a:srgbClr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1508156" cy="13807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283106" y="5133548"/>
            <a:ext cx="2977376" cy="2072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Full-time employment has a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43%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lower risk of default than unemployment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61168" y="9623515"/>
            <a:ext cx="9300439" cy="287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32"/>
              </a:lnSpc>
            </a:pPr>
            <a:r>
              <a:rPr lang="en-US" b="true" sz="1600" spc="94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Sources:</a:t>
            </a:r>
            <a:r>
              <a:rPr lang="en-US" sz="1600" spc="9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https://www.newyorkfed.org/microeconomics/hhdc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545054" y="1461381"/>
            <a:ext cx="6794839" cy="7477685"/>
            <a:chOff x="0" y="0"/>
            <a:chExt cx="6415210" cy="705990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415210" cy="7059905"/>
            </a:xfrm>
            <a:custGeom>
              <a:avLst/>
              <a:gdLst/>
              <a:ahLst/>
              <a:cxnLst/>
              <a:rect r="r" b="b" t="t" l="l"/>
              <a:pathLst>
                <a:path h="7059905" w="6415210">
                  <a:moveTo>
                    <a:pt x="5773689" y="7059905"/>
                  </a:moveTo>
                  <a:lnTo>
                    <a:pt x="641521" y="7059905"/>
                  </a:lnTo>
                  <a:cubicBezTo>
                    <a:pt x="287401" y="7059905"/>
                    <a:pt x="0" y="6743622"/>
                    <a:pt x="0" y="6353914"/>
                  </a:cubicBezTo>
                  <a:lnTo>
                    <a:pt x="0" y="705990"/>
                  </a:lnTo>
                  <a:cubicBezTo>
                    <a:pt x="0" y="316284"/>
                    <a:pt x="287401" y="0"/>
                    <a:pt x="641521" y="0"/>
                  </a:cubicBezTo>
                  <a:lnTo>
                    <a:pt x="5773689" y="0"/>
                  </a:lnTo>
                  <a:cubicBezTo>
                    <a:pt x="6127809" y="0"/>
                    <a:pt x="6415210" y="316284"/>
                    <a:pt x="6415210" y="705990"/>
                  </a:cubicBezTo>
                  <a:lnTo>
                    <a:pt x="6415210" y="6353914"/>
                  </a:lnTo>
                  <a:cubicBezTo>
                    <a:pt x="6415210" y="6743622"/>
                    <a:pt x="6127809" y="7059905"/>
                    <a:pt x="5773689" y="7059905"/>
                  </a:cubicBezTo>
                  <a:close/>
                </a:path>
              </a:pathLst>
            </a:custGeom>
            <a:blipFill>
              <a:blip r:embed="rId12"/>
              <a:stretch>
                <a:fillRect l="-6343" t="0" r="-4115" b="-372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708356" y="4940656"/>
            <a:ext cx="8392075" cy="711399"/>
            <a:chOff x="0" y="0"/>
            <a:chExt cx="3490587" cy="29589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490587" cy="295898"/>
            </a:xfrm>
            <a:custGeom>
              <a:avLst/>
              <a:gdLst/>
              <a:ahLst/>
              <a:cxnLst/>
              <a:rect r="r" b="b" t="t" l="l"/>
              <a:pathLst>
                <a:path h="295898" w="3490587">
                  <a:moveTo>
                    <a:pt x="3287387" y="0"/>
                  </a:moveTo>
                  <a:cubicBezTo>
                    <a:pt x="3399611" y="0"/>
                    <a:pt x="3490587" y="66239"/>
                    <a:pt x="3490587" y="147949"/>
                  </a:cubicBezTo>
                  <a:cubicBezTo>
                    <a:pt x="3490587" y="229659"/>
                    <a:pt x="3399611" y="295898"/>
                    <a:pt x="3287387" y="295898"/>
                  </a:cubicBezTo>
                  <a:lnTo>
                    <a:pt x="203200" y="295898"/>
                  </a:lnTo>
                  <a:cubicBezTo>
                    <a:pt x="90976" y="295898"/>
                    <a:pt x="0" y="229659"/>
                    <a:pt x="0" y="147949"/>
                  </a:cubicBezTo>
                  <a:cubicBezTo>
                    <a:pt x="0" y="6623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3E4EF">
                <a:alpha val="87843"/>
              </a:srgbClr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3490587" cy="3149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2261729" y="6090342"/>
            <a:ext cx="13745492" cy="3225108"/>
            <a:chOff x="0" y="0"/>
            <a:chExt cx="3464175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464175" cy="812800"/>
            </a:xfrm>
            <a:custGeom>
              <a:avLst/>
              <a:gdLst/>
              <a:ahLst/>
              <a:cxnLst/>
              <a:rect r="r" b="b" t="t" l="l"/>
              <a:pathLst>
                <a:path h="812800" w="3464175">
                  <a:moveTo>
                    <a:pt x="0" y="0"/>
                  </a:moveTo>
                  <a:lnTo>
                    <a:pt x="3464175" y="0"/>
                  </a:lnTo>
                  <a:lnTo>
                    <a:pt x="3464175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12"/>
              <a:stretch>
                <a:fillRect l="-15630" t="0" r="-1563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384968" y="2455610"/>
            <a:ext cx="7258332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Dataset Overview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84968" y="3718022"/>
            <a:ext cx="1873366" cy="605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23"/>
              </a:lnSpc>
            </a:pPr>
            <a:r>
              <a:rPr lang="en-US" sz="299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We Use: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523657" y="4940656"/>
            <a:ext cx="6752353" cy="711399"/>
            <a:chOff x="0" y="0"/>
            <a:chExt cx="2808564" cy="29589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808564" cy="295898"/>
            </a:xfrm>
            <a:custGeom>
              <a:avLst/>
              <a:gdLst/>
              <a:ahLst/>
              <a:cxnLst/>
              <a:rect r="r" b="b" t="t" l="l"/>
              <a:pathLst>
                <a:path h="295898" w="2808564">
                  <a:moveTo>
                    <a:pt x="2605364" y="0"/>
                  </a:moveTo>
                  <a:cubicBezTo>
                    <a:pt x="2717588" y="0"/>
                    <a:pt x="2808564" y="66239"/>
                    <a:pt x="2808564" y="147949"/>
                  </a:cubicBezTo>
                  <a:cubicBezTo>
                    <a:pt x="2808564" y="229659"/>
                    <a:pt x="2717588" y="295898"/>
                    <a:pt x="2605364" y="295898"/>
                  </a:cubicBezTo>
                  <a:lnTo>
                    <a:pt x="203200" y="295898"/>
                  </a:lnTo>
                  <a:cubicBezTo>
                    <a:pt x="90976" y="295898"/>
                    <a:pt x="0" y="229659"/>
                    <a:pt x="0" y="147949"/>
                  </a:cubicBezTo>
                  <a:cubicBezTo>
                    <a:pt x="0" y="6623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3E4EF">
                <a:alpha val="87843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2808564" cy="3149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763694" y="5064846"/>
            <a:ext cx="6862828" cy="396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Loan Default Prediction Dataset-Kaggle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008862" y="5064846"/>
            <a:ext cx="7810114" cy="396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The dataset contains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255K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rows and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18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columns.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60943" y="9623515"/>
            <a:ext cx="9300439" cy="287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32"/>
              </a:lnSpc>
            </a:pPr>
            <a:r>
              <a:rPr lang="en-US" b="true" sz="1600" spc="94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Sources:</a:t>
            </a:r>
            <a:r>
              <a:rPr lang="en-US" sz="1600" spc="9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https://www.kaggle.com/datasets/nikhil1e9/loan-default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040552" y="1419373"/>
            <a:ext cx="12247247" cy="6725367"/>
          </a:xfrm>
          <a:custGeom>
            <a:avLst/>
            <a:gdLst/>
            <a:ahLst/>
            <a:cxnLst/>
            <a:rect r="r" b="b" t="t" l="l"/>
            <a:pathLst>
              <a:path h="6725367" w="12247247">
                <a:moveTo>
                  <a:pt x="0" y="0"/>
                </a:moveTo>
                <a:lnTo>
                  <a:pt x="12247246" y="0"/>
                </a:lnTo>
                <a:lnTo>
                  <a:pt x="12247246" y="6725367"/>
                </a:lnTo>
                <a:lnTo>
                  <a:pt x="0" y="672536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082" t="-1371" r="-753" b="-1681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13462" y="8817251"/>
            <a:ext cx="15353619" cy="81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High School borrowers make up the largest share of defaults, contributing almost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28%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which is about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23%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higher than PhD holders, who represent roughly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23%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613462" y="8817251"/>
            <a:ext cx="15353619" cy="81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Unemployed borrowers have the highest default rate at about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29%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, which is over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44%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higher than that of full-time workers, who stand at just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924258" y="1384968"/>
            <a:ext cx="12732027" cy="6762341"/>
          </a:xfrm>
          <a:custGeom>
            <a:avLst/>
            <a:gdLst/>
            <a:ahLst/>
            <a:cxnLst/>
            <a:rect r="r" b="b" t="t" l="l"/>
            <a:pathLst>
              <a:path h="6762341" w="12732027">
                <a:moveTo>
                  <a:pt x="0" y="0"/>
                </a:moveTo>
                <a:lnTo>
                  <a:pt x="12732027" y="0"/>
                </a:lnTo>
                <a:lnTo>
                  <a:pt x="12732027" y="6762341"/>
                </a:lnTo>
                <a:lnTo>
                  <a:pt x="0" y="676234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869" t="-1278" r="-974" b="-2266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603937" y="8817251"/>
            <a:ext cx="15353619" cy="81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Divorced individuals have the highest default rate at nearly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36%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, about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higher than married individuals, who stand at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30%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333862" y="1450650"/>
            <a:ext cx="11893769" cy="6683666"/>
          </a:xfrm>
          <a:custGeom>
            <a:avLst/>
            <a:gdLst/>
            <a:ahLst/>
            <a:cxnLst/>
            <a:rect r="r" b="b" t="t" l="l"/>
            <a:pathLst>
              <a:path h="6683666" w="11893769">
                <a:moveTo>
                  <a:pt x="0" y="0"/>
                </a:moveTo>
                <a:lnTo>
                  <a:pt x="11893769" y="0"/>
                </a:lnTo>
                <a:lnTo>
                  <a:pt x="11893769" y="6683666"/>
                </a:lnTo>
                <a:lnTo>
                  <a:pt x="0" y="66836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414" t="-2062" r="-875" b="-2459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613462" y="8817251"/>
            <a:ext cx="15353619" cy="81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The business loan account has the highest share of defaults, about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21%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, which is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higher than Home loans, which contribute only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18%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386805" y="1384968"/>
            <a:ext cx="11514390" cy="7002327"/>
          </a:xfrm>
          <a:custGeom>
            <a:avLst/>
            <a:gdLst/>
            <a:ahLst/>
            <a:cxnLst/>
            <a:rect r="r" b="b" t="t" l="l"/>
            <a:pathLst>
              <a:path h="7002327" w="11514390">
                <a:moveTo>
                  <a:pt x="0" y="0"/>
                </a:moveTo>
                <a:lnTo>
                  <a:pt x="11514390" y="0"/>
                </a:lnTo>
                <a:lnTo>
                  <a:pt x="11514390" y="7002327"/>
                </a:lnTo>
                <a:lnTo>
                  <a:pt x="0" y="700232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744" t="-1569" r="-949" b="-1463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071689" y="1515260"/>
            <a:ext cx="11835721" cy="6599149"/>
          </a:xfrm>
          <a:custGeom>
            <a:avLst/>
            <a:gdLst/>
            <a:ahLst/>
            <a:cxnLst/>
            <a:rect r="r" b="b" t="t" l="l"/>
            <a:pathLst>
              <a:path h="6599149" w="11835721">
                <a:moveTo>
                  <a:pt x="0" y="0"/>
                </a:moveTo>
                <a:lnTo>
                  <a:pt x="11835721" y="0"/>
                </a:lnTo>
                <a:lnTo>
                  <a:pt x="11835721" y="6599150"/>
                </a:lnTo>
                <a:lnTo>
                  <a:pt x="0" y="65991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894" t="-1722" r="-807" b="-3132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839454" y="8861955"/>
            <a:ext cx="15353619" cy="81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Borrowers without dependents make up about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55%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of all defaulters, roughly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21%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higher than those with dependents, who account for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45%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613462" y="8817251"/>
            <a:ext cx="15155838" cy="816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2171" spc="12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Younger borrowers have the highest default risk, and this risk steadily decreases with age, reaching its lowest levels among older adults.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651900" y="1342531"/>
            <a:ext cx="11265662" cy="6899904"/>
          </a:xfrm>
          <a:custGeom>
            <a:avLst/>
            <a:gdLst/>
            <a:ahLst/>
            <a:cxnLst/>
            <a:rect r="r" b="b" t="t" l="l"/>
            <a:pathLst>
              <a:path h="6899904" w="11265662">
                <a:moveTo>
                  <a:pt x="0" y="0"/>
                </a:moveTo>
                <a:lnTo>
                  <a:pt x="11265661" y="0"/>
                </a:lnTo>
                <a:lnTo>
                  <a:pt x="11265661" y="6899904"/>
                </a:lnTo>
                <a:lnTo>
                  <a:pt x="0" y="68999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038" t="-1787" r="-912" b="-999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249025" y="1523694"/>
            <a:ext cx="11789950" cy="6582282"/>
          </a:xfrm>
          <a:custGeom>
            <a:avLst/>
            <a:gdLst/>
            <a:ahLst/>
            <a:cxnLst/>
            <a:rect r="r" b="b" t="t" l="l"/>
            <a:pathLst>
              <a:path h="6582282" w="11789950">
                <a:moveTo>
                  <a:pt x="0" y="0"/>
                </a:moveTo>
                <a:lnTo>
                  <a:pt x="11789950" y="0"/>
                </a:lnTo>
                <a:lnTo>
                  <a:pt x="11789950" y="6582282"/>
                </a:lnTo>
                <a:lnTo>
                  <a:pt x="0" y="65822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238" t="-1868" r="-1261" b="-232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839454" y="8861955"/>
            <a:ext cx="15353619" cy="81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Defaults rise steadily as the number of credit lines increases, from about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23%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for 1 Credit line to nearly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28%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for 4 Credit lines, a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17%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increase over 1 Credit line.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52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84968" y="3406892"/>
            <a:ext cx="15384332" cy="4587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Borrowers under 50 and those without dependents show a noticeably higher likelihood of loan default.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Individuals with multiple active credit lines face greater repayment challenges compared to those managing fewer accounts.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Business and Auto loans record the highest default rates, while Home loans remain the most financially stable category.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Divorced and unemployed borrowers exhibit the highest risk of default, while married and full-time employees maintain more consistent repayment patterns.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Borrowers with only a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High School education have higher default rates compared to those with advanced degrees, reflecting the role of financial literacy and stability.</a:t>
            </a:r>
          </a:p>
          <a:p>
            <a:pPr algn="just">
              <a:lnSpc>
                <a:spcPts val="3343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384968" y="2341333"/>
            <a:ext cx="6690534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Conclusion 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84968" y="3406892"/>
            <a:ext cx="15384332" cy="4587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Strengthen borrower screening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by integrating additional risk metrics for younger applicants and those without dependents.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Promote responsible credit usage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through financial education programs targeting individuals with multiple credit lines.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Tailor loan products,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apply stricter approval criteria or slightly higher interest buffers for Business and Auto loans, while maintaining flexible terms for Home loans.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 targeted risk monitoring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for divorced and unemployed borrowers, potentially offering financial counselling or payment adjustment plans.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Incentivise education-linked financial literacy programs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to reduce default probability among less-educated borrowers.</a:t>
            </a:r>
          </a:p>
          <a:p>
            <a:pPr algn="just">
              <a:lnSpc>
                <a:spcPts val="3343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375443" y="2246083"/>
            <a:ext cx="11056291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Insights &amp; Recommendations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52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673070" y="3234492"/>
            <a:ext cx="3586230" cy="5225836"/>
          </a:xfrm>
          <a:custGeom>
            <a:avLst/>
            <a:gdLst/>
            <a:ahLst/>
            <a:cxnLst/>
            <a:rect r="r" b="b" t="t" l="l"/>
            <a:pathLst>
              <a:path h="5225836" w="3586230">
                <a:moveTo>
                  <a:pt x="0" y="0"/>
                </a:moveTo>
                <a:lnTo>
                  <a:pt x="3586230" y="0"/>
                </a:lnTo>
                <a:lnTo>
                  <a:pt x="3586230" y="5225836"/>
                </a:lnTo>
                <a:lnTo>
                  <a:pt x="0" y="52258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4446813"/>
            <a:ext cx="12062354" cy="2113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b="true" sz="12400">
                <a:solidFill>
                  <a:srgbClr val="3E6F9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Any Questions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12849225" y="3314700"/>
            <a:ext cx="7315200" cy="3657600"/>
          </a:xfrm>
          <a:custGeom>
            <a:avLst/>
            <a:gdLst/>
            <a:ahLst/>
            <a:cxnLst/>
            <a:rect r="r" b="b" t="t" l="l"/>
            <a:pathLst>
              <a:path h="3657600" w="7315200">
                <a:moveTo>
                  <a:pt x="0" y="0"/>
                </a:moveTo>
                <a:lnTo>
                  <a:pt x="7315200" y="0"/>
                </a:lnTo>
                <a:lnTo>
                  <a:pt x="7315200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369962" y="3664580"/>
            <a:ext cx="10732554" cy="2222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9"/>
              </a:lnSpc>
            </a:pPr>
            <a:r>
              <a:rPr lang="en-US" sz="12999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0" y="5887038"/>
            <a:ext cx="4399962" cy="4399962"/>
          </a:xfrm>
          <a:custGeom>
            <a:avLst/>
            <a:gdLst/>
            <a:ahLst/>
            <a:cxnLst/>
            <a:rect r="r" b="b" t="t" l="l"/>
            <a:pathLst>
              <a:path h="4399962" w="4399962">
                <a:moveTo>
                  <a:pt x="4399962" y="0"/>
                </a:moveTo>
                <a:lnTo>
                  <a:pt x="0" y="0"/>
                </a:lnTo>
                <a:lnTo>
                  <a:pt x="0" y="4399962"/>
                </a:lnTo>
                <a:lnTo>
                  <a:pt x="4399962" y="4399962"/>
                </a:lnTo>
                <a:lnTo>
                  <a:pt x="439996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736239" y="5887038"/>
            <a:ext cx="4238684" cy="516349"/>
          </a:xfrm>
          <a:custGeom>
            <a:avLst/>
            <a:gdLst/>
            <a:ahLst/>
            <a:cxnLst/>
            <a:rect r="r" b="b" t="t" l="l"/>
            <a:pathLst>
              <a:path h="516349" w="4238684">
                <a:moveTo>
                  <a:pt x="0" y="0"/>
                </a:moveTo>
                <a:lnTo>
                  <a:pt x="4238684" y="0"/>
                </a:lnTo>
                <a:lnTo>
                  <a:pt x="4238684" y="516349"/>
                </a:lnTo>
                <a:lnTo>
                  <a:pt x="0" y="5163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DAG5WSQXCtw</dc:identifier>
  <dcterms:modified xsi:type="dcterms:W3CDTF">2011-08-01T06:04:30Z</dcterms:modified>
  <cp:revision>1</cp:revision>
  <dc:title>DA Project-II Brief Presentation</dc:title>
</cp:coreProperties>
</file>